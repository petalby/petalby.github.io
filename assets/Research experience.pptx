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4" roundtripDataSignature="AMtx7mhZTK/5psciy2/91THUvQNXoreKa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4" Type="http://schemas.openxmlformats.org/officeDocument/2006/relationships/slide" Target="slides/slide3.xml"/><Relationship Id="rId14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594e8f7846b9611b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594e8f7846b9611b_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594e8f7846b9611b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594e8f7846b9611b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9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9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1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1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1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1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6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6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7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7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7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8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9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9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g"/><Relationship Id="rId5" Type="http://schemas.openxmlformats.org/officeDocument/2006/relationships/image" Target="../media/image5.jpg"/><Relationship Id="rId4" Type="http://schemas.openxmlformats.org/officeDocument/2006/relationships/image" Target="../media/image4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jpg"/><Relationship Id="rId5" Type="http://schemas.openxmlformats.org/officeDocument/2006/relationships/image" Target="../media/image9.jpg"/><Relationship Id="rId4" Type="http://schemas.openxmlformats.org/officeDocument/2006/relationships/image" Target="../media/image8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jpg"/><Relationship Id="rId4" Type="http://schemas.openxmlformats.org/officeDocument/2006/relationships/image" Target="../media/image12.jp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"/>
          <p:cNvPicPr preferRelativeResize="0"/>
          <p:nvPr/>
        </p:nvPicPr>
        <p:blipFill rotWithShape="1">
          <a:blip r:embed="rId3">
            <a:alphaModFix/>
          </a:blip>
          <a:srcRect t="11853"/>
          <a:stretch/>
        </p:blipFill>
        <p:spPr>
          <a:xfrm>
            <a:off x="1987704" y="2185287"/>
            <a:ext cx="3422110" cy="2841026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"/>
          <p:cNvSpPr txBox="1">
            <a:spLocks noGrp="1"/>
          </p:cNvSpPr>
          <p:nvPr>
            <p:ph type="ctrTitle"/>
          </p:nvPr>
        </p:nvSpPr>
        <p:spPr>
          <a:xfrm>
            <a:off x="1555125" y="363244"/>
            <a:ext cx="9144000" cy="149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Redesign of a Tractor-trailer Sprayer Prototype 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6" name="Google Shape;86;p1"/>
          <p:cNvSpPr txBox="1">
            <a:spLocks noGrp="1"/>
          </p:cNvSpPr>
          <p:nvPr>
            <p:ph type="subTitle" idx="1"/>
          </p:nvPr>
        </p:nvSpPr>
        <p:spPr>
          <a:xfrm>
            <a:off x="1352274" y="5669869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Presented by Alberta Petiafo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87" name="Google Shape;87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709396" y="2414139"/>
            <a:ext cx="3786868" cy="3007591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"/>
          <p:cNvSpPr/>
          <p:nvPr/>
        </p:nvSpPr>
        <p:spPr>
          <a:xfrm>
            <a:off x="5409825" y="2942050"/>
            <a:ext cx="1434600" cy="853800"/>
          </a:xfrm>
          <a:prstGeom prst="rightArrow">
            <a:avLst>
              <a:gd name="adj1" fmla="val 50000"/>
              <a:gd name="adj2" fmla="val 95926"/>
            </a:avLst>
          </a:prstGeom>
          <a:solidFill>
            <a:srgbClr val="C9C9C9"/>
          </a:solidFill>
          <a:ln w="12700" cap="flat" cmpd="sng">
            <a:solidFill>
              <a:srgbClr val="C9C9C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594e8f7846b9611b_42"/>
          <p:cNvSpPr txBox="1">
            <a:spLocks noGrp="1"/>
          </p:cNvSpPr>
          <p:nvPr>
            <p:ph type="title"/>
          </p:nvPr>
        </p:nvSpPr>
        <p:spPr>
          <a:xfrm>
            <a:off x="838200" y="70725"/>
            <a:ext cx="10515600" cy="7953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New Prototype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4" name="Google Shape;94;g594e8f7846b9611b_42"/>
          <p:cNvSpPr txBox="1">
            <a:spLocks noGrp="1"/>
          </p:cNvSpPr>
          <p:nvPr>
            <p:ph type="body" idx="1"/>
          </p:nvPr>
        </p:nvSpPr>
        <p:spPr>
          <a:xfrm>
            <a:off x="838200" y="1056400"/>
            <a:ext cx="10515600" cy="5732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5" name="Google Shape;95;g594e8f7846b9611b_4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3912" y="1197319"/>
            <a:ext cx="3860800" cy="38608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g594e8f7846b9611b_42"/>
          <p:cNvSpPr txBox="1"/>
          <p:nvPr/>
        </p:nvSpPr>
        <p:spPr>
          <a:xfrm>
            <a:off x="1368150" y="5389425"/>
            <a:ext cx="2857500" cy="65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Tractor with 3 point hitch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7" name="Google Shape;97;g594e8f7846b9611b_42"/>
          <p:cNvSpPr txBox="1"/>
          <p:nvPr/>
        </p:nvSpPr>
        <p:spPr>
          <a:xfrm flipH="1">
            <a:off x="5091650" y="1801075"/>
            <a:ext cx="5541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g594e8f7846b9611b_42"/>
          <p:cNvSpPr txBox="1"/>
          <p:nvPr/>
        </p:nvSpPr>
        <p:spPr>
          <a:xfrm>
            <a:off x="5160925" y="2952675"/>
            <a:ext cx="121200" cy="22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g594e8f7846b9611b_42"/>
          <p:cNvSpPr txBox="1"/>
          <p:nvPr/>
        </p:nvSpPr>
        <p:spPr>
          <a:xfrm>
            <a:off x="5082925" y="3948575"/>
            <a:ext cx="2772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0" name="Google Shape;100;g594e8f7846b9611b_42"/>
          <p:cNvCxnSpPr/>
          <p:nvPr/>
        </p:nvCxnSpPr>
        <p:spPr>
          <a:xfrm rot="10800000">
            <a:off x="2770900" y="1558375"/>
            <a:ext cx="2286000" cy="5025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1" name="Google Shape;101;g594e8f7846b9611b_42"/>
          <p:cNvCxnSpPr/>
          <p:nvPr/>
        </p:nvCxnSpPr>
        <p:spPr>
          <a:xfrm flipH="1">
            <a:off x="2424650" y="3255825"/>
            <a:ext cx="2770800" cy="1385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2" name="Google Shape;102;g594e8f7846b9611b_42"/>
          <p:cNvCxnSpPr/>
          <p:nvPr/>
        </p:nvCxnSpPr>
        <p:spPr>
          <a:xfrm flipH="1">
            <a:off x="4035075" y="4294900"/>
            <a:ext cx="1091100" cy="1731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pic>
        <p:nvPicPr>
          <p:cNvPr id="103" name="Google Shape;103;g594e8f7846b9611b_4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22325" y="1197325"/>
            <a:ext cx="3331475" cy="213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g594e8f7846b9611b_4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507125" y="1197326"/>
            <a:ext cx="2515206" cy="213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g594e8f7846b9611b_42"/>
          <p:cNvSpPr txBox="1"/>
          <p:nvPr/>
        </p:nvSpPr>
        <p:spPr>
          <a:xfrm>
            <a:off x="5888125" y="3199150"/>
            <a:ext cx="2515200" cy="22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Vertical Spraying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6" name="Google Shape;106;g594e8f7846b9611b_42"/>
          <p:cNvSpPr txBox="1"/>
          <p:nvPr/>
        </p:nvSpPr>
        <p:spPr>
          <a:xfrm>
            <a:off x="8482450" y="3217725"/>
            <a:ext cx="2286000" cy="22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Horizontal Spraying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7" name="Google Shape;107;g594e8f7846b9611b_42"/>
          <p:cNvPicPr preferRelativeResize="0"/>
          <p:nvPr/>
        </p:nvPicPr>
        <p:blipFill rotWithShape="1">
          <a:blip r:embed="rId6">
            <a:alphaModFix/>
          </a:blip>
          <a:srcRect l="19881" t="11359" r="4176" b="2781"/>
          <a:stretch/>
        </p:blipFill>
        <p:spPr>
          <a:xfrm>
            <a:off x="5507125" y="3948575"/>
            <a:ext cx="3331474" cy="2638675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g594e8f7846b9611b_42"/>
          <p:cNvSpPr txBox="1"/>
          <p:nvPr/>
        </p:nvSpPr>
        <p:spPr>
          <a:xfrm>
            <a:off x="9150275" y="4537350"/>
            <a:ext cx="1618200" cy="116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SPRAYER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TEAM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"/>
          <p:cNvSpPr txBox="1">
            <a:spLocks noGrp="1"/>
          </p:cNvSpPr>
          <p:nvPr>
            <p:ph type="title"/>
          </p:nvPr>
        </p:nvSpPr>
        <p:spPr>
          <a:xfrm>
            <a:off x="912425" y="-1"/>
            <a:ext cx="10515600" cy="11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Frame Design and Simulations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4" name="Google Shape;114;p2"/>
          <p:cNvSpPr txBox="1">
            <a:spLocks noGrp="1"/>
          </p:cNvSpPr>
          <p:nvPr>
            <p:ph type="body" idx="1"/>
          </p:nvPr>
        </p:nvSpPr>
        <p:spPr>
          <a:xfrm>
            <a:off x="838200" y="1172400"/>
            <a:ext cx="10515600" cy="549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GB" sz="1800" u="sng">
                <a:latin typeface="Times New Roman"/>
                <a:ea typeface="Times New Roman"/>
                <a:cs typeface="Times New Roman"/>
                <a:sym typeface="Times New Roman"/>
              </a:rPr>
              <a:t>Materials</a:t>
            </a:r>
            <a:endParaRPr sz="1800" u="sng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Galvanized steel (ASTM A653 CS Type B) 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Mild Steel ( AISI 1018)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Weight of water tank=1000 kg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180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The simulation was conducted with SN curve of the core material of the galvanized steel without considering the effects of coating integrity or hydrogen embrittlement.</a:t>
            </a:r>
            <a:endParaRPr sz="1800"/>
          </a:p>
        </p:txBody>
      </p:sp>
      <p:pic>
        <p:nvPicPr>
          <p:cNvPr id="115" name="Google Shape;115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2413" y="2331988"/>
            <a:ext cx="3401824" cy="2906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2"/>
          <p:cNvPicPr preferRelativeResize="0"/>
          <p:nvPr/>
        </p:nvPicPr>
        <p:blipFill rotWithShape="1">
          <a:blip r:embed="rId4">
            <a:alphaModFix/>
          </a:blip>
          <a:srcRect l="504" r="504"/>
          <a:stretch/>
        </p:blipFill>
        <p:spPr>
          <a:xfrm>
            <a:off x="7818788" y="1477837"/>
            <a:ext cx="3622676" cy="29909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2"/>
          <p:cNvSpPr txBox="1"/>
          <p:nvPr/>
        </p:nvSpPr>
        <p:spPr>
          <a:xfrm>
            <a:off x="2118450" y="4885200"/>
            <a:ext cx="1961100" cy="27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Galvanised steel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σ</a:t>
            </a:r>
            <a:r>
              <a:rPr lang="en-GB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275 MPa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8" name="Google Shape;118;p2"/>
          <p:cNvSpPr txBox="1"/>
          <p:nvPr/>
        </p:nvSpPr>
        <p:spPr>
          <a:xfrm>
            <a:off x="8643425" y="4774175"/>
            <a:ext cx="19734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Mild steel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σ</a:t>
            </a:r>
            <a:r>
              <a:rPr lang="en-GB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370 MPa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9" name="Google Shape;119;p2"/>
          <p:cNvSpPr txBox="1"/>
          <p:nvPr/>
        </p:nvSpPr>
        <p:spPr>
          <a:xfrm>
            <a:off x="5103425" y="2319625"/>
            <a:ext cx="13323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Critical areas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20" name="Google Shape;120;p2"/>
          <p:cNvPicPr preferRelativeResize="0"/>
          <p:nvPr/>
        </p:nvPicPr>
        <p:blipFill rotWithShape="1">
          <a:blip r:embed="rId5">
            <a:alphaModFix/>
          </a:blip>
          <a:srcRect l="-5034" t="-6067" r="-5609"/>
          <a:stretch/>
        </p:blipFill>
        <p:spPr>
          <a:xfrm>
            <a:off x="4671700" y="2886475"/>
            <a:ext cx="1085700" cy="1293300"/>
          </a:xfrm>
          <a:prstGeom prst="ellipse">
            <a:avLst/>
          </a:prstGeom>
          <a:noFill/>
          <a:ln>
            <a:noFill/>
          </a:ln>
        </p:spPr>
      </p:pic>
      <p:cxnSp>
        <p:nvCxnSpPr>
          <p:cNvPr id="121" name="Google Shape;121;p2"/>
          <p:cNvCxnSpPr>
            <a:endCxn id="120" idx="3"/>
          </p:cNvCxnSpPr>
          <p:nvPr/>
        </p:nvCxnSpPr>
        <p:spPr>
          <a:xfrm rot="10800000" flipH="1">
            <a:off x="2833897" y="3990376"/>
            <a:ext cx="1996800" cy="783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pic>
        <p:nvPicPr>
          <p:cNvPr id="122" name="Google Shape;122;p2"/>
          <p:cNvPicPr preferRelativeResize="0"/>
          <p:nvPr/>
        </p:nvPicPr>
        <p:blipFill rotWithShape="1">
          <a:blip r:embed="rId6">
            <a:alphaModFix/>
          </a:blip>
          <a:srcRect l="13169" r="16179"/>
          <a:stretch/>
        </p:blipFill>
        <p:spPr>
          <a:xfrm>
            <a:off x="5757388" y="2886475"/>
            <a:ext cx="935700" cy="1293300"/>
          </a:xfrm>
          <a:prstGeom prst="ellipse">
            <a:avLst/>
          </a:prstGeom>
          <a:noFill/>
          <a:ln>
            <a:noFill/>
          </a:ln>
        </p:spPr>
      </p:pic>
      <p:cxnSp>
        <p:nvCxnSpPr>
          <p:cNvPr id="123" name="Google Shape;123;p2"/>
          <p:cNvCxnSpPr>
            <a:endCxn id="122" idx="6"/>
          </p:cNvCxnSpPr>
          <p:nvPr/>
        </p:nvCxnSpPr>
        <p:spPr>
          <a:xfrm rot="10800000">
            <a:off x="6693088" y="3533125"/>
            <a:ext cx="3063900" cy="382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"/>
          <p:cNvSpPr txBox="1">
            <a:spLocks noGrp="1"/>
          </p:cNvSpPr>
          <p:nvPr>
            <p:ph type="title"/>
          </p:nvPr>
        </p:nvSpPr>
        <p:spPr>
          <a:xfrm>
            <a:off x="838200" y="0"/>
            <a:ext cx="10515600" cy="74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/>
              <a:t>Fatigue Analysis of Materials </a:t>
            </a:r>
            <a:endParaRPr/>
          </a:p>
        </p:txBody>
      </p:sp>
      <p:sp>
        <p:nvSpPr>
          <p:cNvPr id="129" name="Google Shape;129;p3"/>
          <p:cNvSpPr txBox="1">
            <a:spLocks noGrp="1"/>
          </p:cNvSpPr>
          <p:nvPr>
            <p:ph type="body" idx="1"/>
          </p:nvPr>
        </p:nvSpPr>
        <p:spPr>
          <a:xfrm>
            <a:off x="838200" y="711000"/>
            <a:ext cx="10515600" cy="54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228600" lvl="0" indent="-76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30" name="Google Shape;130;p3"/>
          <p:cNvPicPr preferRelativeResize="0"/>
          <p:nvPr/>
        </p:nvPicPr>
        <p:blipFill rotWithShape="1">
          <a:blip r:embed="rId3">
            <a:alphaModFix/>
          </a:blip>
          <a:srcRect l="3750" r="4320" b="14915"/>
          <a:stretch/>
        </p:blipFill>
        <p:spPr>
          <a:xfrm>
            <a:off x="7533325" y="806250"/>
            <a:ext cx="3922375" cy="3501275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3"/>
          <p:cNvSpPr txBox="1"/>
          <p:nvPr/>
        </p:nvSpPr>
        <p:spPr>
          <a:xfrm>
            <a:off x="8273400" y="4610838"/>
            <a:ext cx="2923200" cy="3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S-N Curve for plain carbon steel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2" name="Google Shape;132;p3"/>
          <p:cNvSpPr txBox="1"/>
          <p:nvPr/>
        </p:nvSpPr>
        <p:spPr>
          <a:xfrm>
            <a:off x="2698175" y="5637600"/>
            <a:ext cx="1455600" cy="22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33" name="Google Shape;133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8200" y="3606675"/>
            <a:ext cx="3688050" cy="3190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8200" y="740700"/>
            <a:ext cx="3614050" cy="28659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5" name="Google Shape;135;p3"/>
          <p:cNvCxnSpPr/>
          <p:nvPr/>
        </p:nvCxnSpPr>
        <p:spPr>
          <a:xfrm>
            <a:off x="8281200" y="2846525"/>
            <a:ext cx="2045700" cy="24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6" name="Google Shape;136;p3"/>
          <p:cNvCxnSpPr/>
          <p:nvPr/>
        </p:nvCxnSpPr>
        <p:spPr>
          <a:xfrm>
            <a:off x="10336325" y="2865725"/>
            <a:ext cx="0" cy="821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7" name="Google Shape;137;p3"/>
          <p:cNvSpPr txBox="1"/>
          <p:nvPr/>
        </p:nvSpPr>
        <p:spPr>
          <a:xfrm>
            <a:off x="10202375" y="3619625"/>
            <a:ext cx="267900" cy="24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endParaRPr sz="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38" name="Google Shape;138;p3"/>
          <p:cNvCxnSpPr/>
          <p:nvPr/>
        </p:nvCxnSpPr>
        <p:spPr>
          <a:xfrm>
            <a:off x="8282300" y="2898575"/>
            <a:ext cx="2141100" cy="7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9" name="Google Shape;139;p3"/>
          <p:cNvCxnSpPr/>
          <p:nvPr/>
        </p:nvCxnSpPr>
        <p:spPr>
          <a:xfrm flipH="1">
            <a:off x="10415100" y="2906175"/>
            <a:ext cx="8400" cy="798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0" name="Google Shape;140;p3"/>
          <p:cNvSpPr txBox="1"/>
          <p:nvPr/>
        </p:nvSpPr>
        <p:spPr>
          <a:xfrm>
            <a:off x="9792025" y="3643275"/>
            <a:ext cx="96300" cy="22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1" name="Google Shape;141;p3"/>
          <p:cNvSpPr txBox="1"/>
          <p:nvPr/>
        </p:nvSpPr>
        <p:spPr>
          <a:xfrm>
            <a:off x="2020250" y="3258225"/>
            <a:ext cx="1627500" cy="22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Galvanised Steel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2" name="Google Shape;142;p3"/>
          <p:cNvSpPr txBox="1"/>
          <p:nvPr/>
        </p:nvSpPr>
        <p:spPr>
          <a:xfrm>
            <a:off x="1999675" y="6368000"/>
            <a:ext cx="1627500" cy="22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Mild Steel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3" name="Google Shape;143;p3"/>
          <p:cNvSpPr txBox="1"/>
          <p:nvPr/>
        </p:nvSpPr>
        <p:spPr>
          <a:xfrm>
            <a:off x="4635775" y="1178175"/>
            <a:ext cx="2747100" cy="153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Max Stress=122 MPa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Cycles=3x10</a:t>
            </a:r>
            <a:r>
              <a:rPr lang="en-GB" baseline="30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30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Strength/weight ratio = 724.4 Pa/kg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4" name="Google Shape;144;p3"/>
          <p:cNvSpPr txBox="1"/>
          <p:nvPr/>
        </p:nvSpPr>
        <p:spPr>
          <a:xfrm>
            <a:off x="10294950" y="3606663"/>
            <a:ext cx="426900" cy="3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3"/>
          <p:cNvSpPr txBox="1"/>
          <p:nvPr/>
        </p:nvSpPr>
        <p:spPr>
          <a:xfrm>
            <a:off x="4635775" y="4026075"/>
            <a:ext cx="2923200" cy="149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Max Stress = 171 MPa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Cycle = 2x10</a:t>
            </a:r>
            <a:r>
              <a:rPr lang="en-GB" baseline="30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30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Strength/weight ratio = 972.68 Pa/kg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594e8f7846b9611b_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1" name="Google Shape;151;g594e8f7846b9611b_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 dirty="0">
                <a:latin typeface="Times New Roman"/>
                <a:ea typeface="Times New Roman"/>
                <a:cs typeface="Times New Roman"/>
                <a:sym typeface="Times New Roman"/>
              </a:rPr>
              <a:t>Coating and Welding Integrity</a:t>
            </a:r>
            <a:endParaRPr sz="18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 dirty="0">
                <a:latin typeface="Times New Roman"/>
                <a:ea typeface="Times New Roman"/>
                <a:cs typeface="Times New Roman"/>
                <a:sym typeface="Times New Roman"/>
              </a:rPr>
              <a:t>Environmental Factors (Zn Reaction during corrosion)</a:t>
            </a:r>
            <a:endParaRPr sz="18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 dirty="0">
                <a:latin typeface="Times New Roman"/>
                <a:ea typeface="Times New Roman"/>
                <a:cs typeface="Times New Roman"/>
                <a:sym typeface="Times New Roman"/>
              </a:rPr>
              <a:t>Hydrogen Embrittlement</a:t>
            </a:r>
            <a:endParaRPr sz="18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 dirty="0">
                <a:latin typeface="Times New Roman"/>
                <a:ea typeface="Times New Roman"/>
                <a:cs typeface="Times New Roman"/>
                <a:sym typeface="Times New Roman"/>
              </a:rPr>
              <a:t>Strength to Weight Ratio  </a:t>
            </a:r>
            <a:endParaRPr sz="18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18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GB" sz="2400" u="sng" dirty="0">
                <a:latin typeface="Times New Roman"/>
                <a:ea typeface="Times New Roman"/>
                <a:cs typeface="Times New Roman"/>
                <a:sym typeface="Times New Roman"/>
              </a:rPr>
              <a:t>Recommendation</a:t>
            </a:r>
            <a:endParaRPr sz="2400" u="sng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GB" sz="1800" dirty="0">
                <a:latin typeface="Times New Roman"/>
                <a:ea typeface="Times New Roman"/>
                <a:cs typeface="Times New Roman"/>
                <a:sym typeface="Times New Roman"/>
              </a:rPr>
              <a:t>Further experiments need to be made to obtain a better SN curve on the fatigue </a:t>
            </a:r>
            <a:r>
              <a:rPr lang="en-GB" sz="1800" dirty="0" err="1">
                <a:latin typeface="Times New Roman"/>
                <a:ea typeface="Times New Roman"/>
                <a:cs typeface="Times New Roman"/>
                <a:sym typeface="Times New Roman"/>
              </a:rPr>
              <a:t>behavioral</a:t>
            </a:r>
            <a:endParaRPr lang="en-GB" sz="18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GB" sz="1800" dirty="0">
                <a:latin typeface="Times New Roman"/>
                <a:ea typeface="Times New Roman"/>
                <a:cs typeface="Times New Roman"/>
                <a:sym typeface="Times New Roman"/>
              </a:rPr>
              <a:t>Sprayer height adjustability to different angles</a:t>
            </a:r>
            <a:endParaRPr sz="18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185</Words>
  <Application>Microsoft Office PowerPoint</Application>
  <PresentationFormat>Widescreen</PresentationFormat>
  <Paragraphs>57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Times New Roman</vt:lpstr>
      <vt:lpstr>Office Theme</vt:lpstr>
      <vt:lpstr>Redesign of a Tractor-trailer Sprayer Prototype  </vt:lpstr>
      <vt:lpstr>New Prototype</vt:lpstr>
      <vt:lpstr>Frame Design and Simulations</vt:lpstr>
      <vt:lpstr>Fatigue Analysis of Materials 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Unknown User</dc:creator>
  <cp:lastModifiedBy>Alberta Petiafo</cp:lastModifiedBy>
  <cp:revision>1</cp:revision>
  <dcterms:created xsi:type="dcterms:W3CDTF">2024-05-19T10:30:08Z</dcterms:created>
  <dcterms:modified xsi:type="dcterms:W3CDTF">2026-03-24T14:58:41Z</dcterms:modified>
</cp:coreProperties>
</file>